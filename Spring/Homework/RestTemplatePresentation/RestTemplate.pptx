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35" r:id="rId5"/>
    <p:sldId id="336" r:id="rId6"/>
    <p:sldId id="337" r:id="rId7"/>
    <p:sldId id="339" r:id="rId8"/>
    <p:sldId id="338" r:id="rId9"/>
    <p:sldId id="348" r:id="rId10"/>
    <p:sldId id="340" r:id="rId11"/>
    <p:sldId id="342" r:id="rId12"/>
    <p:sldId id="343" r:id="rId13"/>
    <p:sldId id="341" r:id="rId14"/>
    <p:sldId id="344" r:id="rId15"/>
    <p:sldId id="345" r:id="rId16"/>
    <p:sldId id="34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7218E3-2D6B-43C0-95BF-3C3C5C0CC173}" v="13" dt="2025-12-12T07:56:27.523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94" autoAdjust="0"/>
  </p:normalViewPr>
  <p:slideViewPr>
    <p:cSldViewPr snapToGrid="0">
      <p:cViewPr varScale="1">
        <p:scale>
          <a:sx n="76" d="100"/>
          <a:sy n="76" d="100"/>
        </p:scale>
        <p:origin x="62" y="106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l Denis Mihalache" userId="d659269f-90b9-416e-9e51-61ff90d7d1b2" providerId="ADAL" clId="{56A476A1-41CE-4544-949C-F3ADD9A046ED}"/>
    <pc:docChg chg="modSld">
      <pc:chgData name="Georgel Denis Mihalache" userId="d659269f-90b9-416e-9e51-61ff90d7d1b2" providerId="ADAL" clId="{56A476A1-41CE-4544-949C-F3ADD9A046ED}" dt="2025-12-12T07:56:27.523" v="11" actId="14100"/>
      <pc:docMkLst>
        <pc:docMk/>
      </pc:docMkLst>
      <pc:sldChg chg="addSp delSp modSp">
        <pc:chgData name="Georgel Denis Mihalache" userId="d659269f-90b9-416e-9e51-61ff90d7d1b2" providerId="ADAL" clId="{56A476A1-41CE-4544-949C-F3ADD9A046ED}" dt="2025-12-12T07:56:27.523" v="11" actId="14100"/>
        <pc:sldMkLst>
          <pc:docMk/>
          <pc:sldMk cId="3590816519" sldId="338"/>
        </pc:sldMkLst>
        <pc:spChg chg="add del mod">
          <ac:chgData name="Georgel Denis Mihalache" userId="d659269f-90b9-416e-9e51-61ff90d7d1b2" providerId="ADAL" clId="{56A476A1-41CE-4544-949C-F3ADD9A046ED}" dt="2025-12-12T07:56:16.750" v="8"/>
          <ac:spMkLst>
            <pc:docMk/>
            <pc:sldMk cId="3590816519" sldId="338"/>
            <ac:spMk id="3" creationId="{AB342945-5F86-73D1-7AAF-0E6F8BE5E9BC}"/>
          </ac:spMkLst>
        </pc:spChg>
        <pc:picChg chg="add">
          <ac:chgData name="Georgel Denis Mihalache" userId="d659269f-90b9-416e-9e51-61ff90d7d1b2" providerId="ADAL" clId="{56A476A1-41CE-4544-949C-F3ADD9A046ED}" dt="2025-12-12T07:55:36.842" v="1"/>
          <ac:picMkLst>
            <pc:docMk/>
            <pc:sldMk cId="3590816519" sldId="338"/>
            <ac:picMk id="1026" creationId="{2596E0FB-69BB-1D6D-0B88-2A2DC0C3060B}"/>
          </ac:picMkLst>
        </pc:picChg>
        <pc:picChg chg="add mod">
          <ac:chgData name="Georgel Denis Mihalache" userId="d659269f-90b9-416e-9e51-61ff90d7d1b2" providerId="ADAL" clId="{56A476A1-41CE-4544-949C-F3ADD9A046ED}" dt="2025-12-12T07:56:14.563" v="7"/>
          <ac:picMkLst>
            <pc:docMk/>
            <pc:sldMk cId="3590816519" sldId="338"/>
            <ac:picMk id="1028" creationId="{D8506635-0CF5-9F37-7375-DC787BD6BE11}"/>
          </ac:picMkLst>
        </pc:picChg>
        <pc:picChg chg="add mod">
          <ac:chgData name="Georgel Denis Mihalache" userId="d659269f-90b9-416e-9e51-61ff90d7d1b2" providerId="ADAL" clId="{56A476A1-41CE-4544-949C-F3ADD9A046ED}" dt="2025-12-12T07:56:27.523" v="11" actId="14100"/>
          <ac:picMkLst>
            <pc:docMk/>
            <pc:sldMk cId="3590816519" sldId="338"/>
            <ac:picMk id="1030" creationId="{6FA75E73-CEEF-CC4A-6882-910A8B2B1F39}"/>
          </ac:picMkLst>
        </pc:picChg>
        <pc:picChg chg="del">
          <ac:chgData name="Georgel Denis Mihalache" userId="d659269f-90b9-416e-9e51-61ff90d7d1b2" providerId="ADAL" clId="{56A476A1-41CE-4544-949C-F3ADD9A046ED}" dt="2025-12-12T07:54:52.692" v="0" actId="478"/>
          <ac:picMkLst>
            <pc:docMk/>
            <pc:sldMk cId="3590816519" sldId="338"/>
            <ac:picMk id="5122" creationId="{F66A0179-D6F0-37B6-71E1-22195DE2519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/>
          <a:lstStyle/>
          <a:p>
            <a:r>
              <a:rPr lang="en-US" dirty="0" err="1"/>
              <a:t>RestTemplate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8BAC82-9CBA-6C22-394D-5A8725C3E113}"/>
              </a:ext>
            </a:extLst>
          </p:cNvPr>
          <p:cNvSpPr txBox="1"/>
          <p:nvPr/>
        </p:nvSpPr>
        <p:spPr>
          <a:xfrm>
            <a:off x="6263148" y="4159044"/>
            <a:ext cx="3677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Denis Mihalache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/>
          <a:lstStyle/>
          <a:p>
            <a:r>
              <a:rPr lang="en-US" dirty="0" err="1"/>
              <a:t>Introducere</a:t>
            </a:r>
            <a:r>
              <a:rPr lang="en-US" dirty="0"/>
              <a:t> &amp; context</a:t>
            </a:r>
          </a:p>
          <a:p>
            <a:r>
              <a:rPr lang="en-US" dirty="0"/>
              <a:t>Ce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RestTemplate</a:t>
            </a:r>
            <a:r>
              <a:rPr lang="en-US" dirty="0"/>
              <a:t>?</a:t>
            </a:r>
          </a:p>
          <a:p>
            <a:r>
              <a:rPr lang="en-US" dirty="0" err="1"/>
              <a:t>Configurare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Spring Boot</a:t>
            </a:r>
          </a:p>
          <a:p>
            <a:r>
              <a:rPr lang="it-IT" dirty="0"/>
              <a:t>Operațiuni de bază cu RestTemplate</a:t>
            </a:r>
          </a:p>
          <a:p>
            <a:r>
              <a:rPr lang="es-ES" dirty="0" err="1"/>
              <a:t>Maparea</a:t>
            </a:r>
            <a:r>
              <a:rPr lang="es-ES" dirty="0"/>
              <a:t> </a:t>
            </a:r>
            <a:r>
              <a:rPr lang="es-ES" dirty="0" err="1"/>
              <a:t>răspunsurilor</a:t>
            </a:r>
            <a:r>
              <a:rPr lang="es-ES" dirty="0"/>
              <a:t> </a:t>
            </a:r>
            <a:r>
              <a:rPr lang="es-ES" dirty="0" err="1"/>
              <a:t>în</a:t>
            </a:r>
            <a:r>
              <a:rPr lang="es-ES" dirty="0"/>
              <a:t> </a:t>
            </a:r>
            <a:r>
              <a:rPr lang="es-ES" dirty="0" err="1"/>
              <a:t>obiecte</a:t>
            </a:r>
            <a:r>
              <a:rPr lang="es-ES" dirty="0"/>
              <a:t> Java</a:t>
            </a:r>
          </a:p>
          <a:p>
            <a:r>
              <a:rPr lang="en-US" dirty="0"/>
              <a:t>Error handling &amp; </a:t>
            </a:r>
            <a:r>
              <a:rPr lang="en-US" dirty="0" err="1"/>
              <a:t>bune</a:t>
            </a:r>
            <a:r>
              <a:rPr lang="en-US" dirty="0"/>
              <a:t> practice</a:t>
            </a:r>
          </a:p>
          <a:p>
            <a:r>
              <a:rPr lang="en-US" dirty="0" err="1"/>
              <a:t>RestTemplate</a:t>
            </a:r>
            <a:r>
              <a:rPr lang="en-US" dirty="0"/>
              <a:t> vs </a:t>
            </a:r>
            <a:r>
              <a:rPr lang="en-US" dirty="0" err="1"/>
              <a:t>WebClient</a:t>
            </a:r>
            <a:r>
              <a:rPr lang="en-US" dirty="0"/>
              <a:t> &amp; </a:t>
            </a:r>
            <a:r>
              <a:rPr lang="en-US" dirty="0" err="1"/>
              <a:t>concluzii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8" y="420624"/>
            <a:ext cx="5864352" cy="3621024"/>
          </a:xfrm>
        </p:spPr>
        <p:txBody>
          <a:bodyPr/>
          <a:lstStyle/>
          <a:p>
            <a:r>
              <a:rPr lang="en-US" dirty="0"/>
              <a:t>Context: API-</a:t>
            </a:r>
            <a:r>
              <a:rPr lang="en-US" dirty="0" err="1"/>
              <a:t>uri</a:t>
            </a:r>
            <a:r>
              <a:rPr lang="en-US" dirty="0"/>
              <a:t> REST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clienți</a:t>
            </a:r>
            <a:r>
              <a:rPr lang="en-US" dirty="0"/>
              <a:t> HTTP</a:t>
            </a:r>
          </a:p>
        </p:txBody>
      </p:sp>
      <p:pic>
        <p:nvPicPr>
          <p:cNvPr id="6146" name="Picture 2" descr="What is REST API ?. Everyone talks about building REST… | by Manraj ...">
            <a:extLst>
              <a:ext uri="{FF2B5EF4-FFF2-40B4-BE49-F238E27FC236}">
                <a16:creationId xmlns:a16="http://schemas.microsoft.com/office/drawing/2014/main" id="{A4EC9C61-30E3-DCC9-653B-DCB7BA9515E1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8" r="23978"/>
          <a:stretch>
            <a:fillRect/>
          </a:stretch>
        </p:blipFill>
        <p:spPr bwMode="auto">
          <a:xfrm>
            <a:off x="7433119" y="0"/>
            <a:ext cx="475888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/>
          <a:lstStyle/>
          <a:p>
            <a:r>
              <a:rPr lang="en-US" dirty="0" err="1"/>
              <a:t>Aplicațiile</a:t>
            </a:r>
            <a:r>
              <a:rPr lang="en-US" dirty="0"/>
              <a:t> </a:t>
            </a:r>
            <a:r>
              <a:rPr lang="en-US" dirty="0" err="1"/>
              <a:t>moderne</a:t>
            </a:r>
            <a:r>
              <a:rPr lang="en-US" dirty="0"/>
              <a:t> </a:t>
            </a:r>
            <a:r>
              <a:rPr lang="en-US" dirty="0" err="1"/>
              <a:t>comunică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API-</a:t>
            </a:r>
            <a:r>
              <a:rPr lang="en-US" dirty="0" err="1"/>
              <a:t>uri</a:t>
            </a:r>
            <a:r>
              <a:rPr lang="en-US" dirty="0"/>
              <a:t> REST </a:t>
            </a:r>
            <a:r>
              <a:rPr lang="en-US" dirty="0" err="1"/>
              <a:t>peste</a:t>
            </a:r>
            <a:r>
              <a:rPr lang="en-US" dirty="0"/>
              <a:t> HTTP (de </a:t>
            </a:r>
            <a:r>
              <a:rPr lang="en-US" dirty="0" err="1"/>
              <a:t>obicei</a:t>
            </a:r>
            <a:r>
              <a:rPr lang="en-US" dirty="0"/>
              <a:t> JSON).</a:t>
            </a:r>
          </a:p>
          <a:p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nevoie</a:t>
            </a:r>
            <a:r>
              <a:rPr lang="en-US" dirty="0"/>
              <a:t> de un client HTTP ca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consumăm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API-</a:t>
            </a:r>
            <a:r>
              <a:rPr lang="en-US" dirty="0" err="1"/>
              <a:t>uri</a:t>
            </a:r>
            <a:r>
              <a:rPr lang="en-US" dirty="0"/>
              <a:t> din </a:t>
            </a:r>
            <a:r>
              <a:rPr lang="en-US" dirty="0" err="1"/>
              <a:t>aplicațiile</a:t>
            </a:r>
            <a:r>
              <a:rPr lang="en-US" dirty="0"/>
              <a:t> </a:t>
            </a:r>
            <a:r>
              <a:rPr lang="en-US" dirty="0" err="1"/>
              <a:t>noastre</a:t>
            </a:r>
            <a:r>
              <a:rPr lang="en-US" dirty="0"/>
              <a:t> Java.</a:t>
            </a:r>
          </a:p>
          <a:p>
            <a:r>
              <a:rPr lang="en-US" dirty="0"/>
              <a:t>Spring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RestTemplate</a:t>
            </a:r>
            <a:r>
              <a:rPr lang="en-US" dirty="0"/>
              <a:t> ca un client HTTP </a:t>
            </a:r>
            <a:r>
              <a:rPr lang="en-US" dirty="0" err="1"/>
              <a:t>simplu</a:t>
            </a:r>
            <a:r>
              <a:rPr lang="en-US" dirty="0"/>
              <a:t>, </a:t>
            </a:r>
            <a:r>
              <a:rPr lang="en-US" dirty="0" err="1"/>
              <a:t>sincron</a:t>
            </a:r>
            <a:r>
              <a:rPr lang="en-US" dirty="0"/>
              <a:t>.</a:t>
            </a:r>
          </a:p>
          <a:p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frecvent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integrarea</a:t>
            </a:r>
            <a:r>
              <a:rPr lang="en-US" dirty="0"/>
              <a:t> cu </a:t>
            </a:r>
            <a:r>
              <a:rPr lang="en-US" dirty="0" err="1"/>
              <a:t>microservicii</a:t>
            </a:r>
            <a:r>
              <a:rPr lang="en-US" dirty="0"/>
              <a:t> interne </a:t>
            </a:r>
            <a:r>
              <a:rPr lang="en-US" dirty="0" err="1"/>
              <a:t>și</a:t>
            </a:r>
            <a:r>
              <a:rPr lang="en-US" dirty="0"/>
              <a:t> API-</a:t>
            </a:r>
            <a:r>
              <a:rPr lang="en-US" dirty="0" err="1"/>
              <a:t>uri</a:t>
            </a:r>
            <a:r>
              <a:rPr lang="en-US" dirty="0"/>
              <a:t> externe.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DDD8-3394-6FB2-960C-451DEBD7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6784"/>
            <a:ext cx="5864352" cy="3621024"/>
          </a:xfrm>
        </p:spPr>
        <p:txBody>
          <a:bodyPr/>
          <a:lstStyle/>
          <a:p>
            <a:r>
              <a:rPr lang="en-US" dirty="0"/>
              <a:t>Ce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RestTemplate</a:t>
            </a:r>
            <a:r>
              <a:rPr lang="en-US" dirty="0"/>
              <a:t>?</a:t>
            </a:r>
            <a:endParaRPr lang="en-ZA" dirty="0"/>
          </a:p>
        </p:txBody>
      </p:sp>
      <p:pic>
        <p:nvPicPr>
          <p:cNvPr id="1030" name="Picture 6" descr="Authentication | REST Server for TYPO3 CMS">
            <a:extLst>
              <a:ext uri="{FF2B5EF4-FFF2-40B4-BE49-F238E27FC236}">
                <a16:creationId xmlns:a16="http://schemas.microsoft.com/office/drawing/2014/main" id="{6FA75E73-CEEF-CC4A-6882-910A8B2B1F39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4" r="15304"/>
          <a:stretch>
            <a:fillRect/>
          </a:stretch>
        </p:blipFill>
        <p:spPr bwMode="auto">
          <a:xfrm>
            <a:off x="0" y="0"/>
            <a:ext cx="4581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816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B4CB3-BF9A-8A53-DD63-B5EFA8E71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6EEEF03-6558-5DB1-27A7-5729DF68FA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/>
          <a:lstStyle/>
          <a:p>
            <a:r>
              <a:rPr lang="en-US" dirty="0" err="1"/>
              <a:t>Clasă</a:t>
            </a:r>
            <a:r>
              <a:rPr lang="en-US" dirty="0"/>
              <a:t> din Spring Framework: </a:t>
            </a:r>
            <a:r>
              <a:rPr lang="en-US" dirty="0" err="1"/>
              <a:t>org.springframework.web.client.RestTemplate</a:t>
            </a:r>
            <a:endParaRPr lang="en-US" dirty="0"/>
          </a:p>
          <a:p>
            <a:r>
              <a:rPr lang="en-US" dirty="0"/>
              <a:t>Client HTTP </a:t>
            </a:r>
            <a:r>
              <a:rPr lang="en-US" dirty="0" err="1"/>
              <a:t>sincron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apeluri</a:t>
            </a:r>
            <a:r>
              <a:rPr lang="en-US" dirty="0"/>
              <a:t> </a:t>
            </a:r>
            <a:r>
              <a:rPr lang="en-US" dirty="0" err="1"/>
              <a:t>către</a:t>
            </a:r>
            <a:r>
              <a:rPr lang="en-US" dirty="0"/>
              <a:t> API-</a:t>
            </a:r>
            <a:r>
              <a:rPr lang="en-US" dirty="0" err="1"/>
              <a:t>uri</a:t>
            </a:r>
            <a:r>
              <a:rPr lang="en-US" dirty="0"/>
              <a:t> REST</a:t>
            </a:r>
          </a:p>
          <a:p>
            <a:r>
              <a:rPr lang="en-US" dirty="0" err="1"/>
              <a:t>Simplifică</a:t>
            </a:r>
            <a:r>
              <a:rPr lang="en-US" dirty="0"/>
              <a:t> </a:t>
            </a:r>
            <a:r>
              <a:rPr lang="en-US" dirty="0" err="1"/>
              <a:t>apelurile</a:t>
            </a:r>
            <a:r>
              <a:rPr lang="en-US" dirty="0"/>
              <a:t> (GET, POST, PUT, DELETE)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maparea</a:t>
            </a:r>
            <a:r>
              <a:rPr lang="en-US" dirty="0"/>
              <a:t> JSON ↔ </a:t>
            </a:r>
            <a:r>
              <a:rPr lang="en-US" dirty="0" err="1"/>
              <a:t>obiecte</a:t>
            </a:r>
            <a:r>
              <a:rPr lang="en-US" dirty="0"/>
              <a:t> Java</a:t>
            </a:r>
          </a:p>
          <a:p>
            <a:r>
              <a:rPr lang="en-US" dirty="0" err="1"/>
              <a:t>Considerat</a:t>
            </a:r>
            <a:r>
              <a:rPr lang="en-US" dirty="0"/>
              <a:t> „classic client”;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proiecte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 Spring </a:t>
            </a:r>
            <a:r>
              <a:rPr lang="en-US" dirty="0" err="1"/>
              <a:t>recomandă</a:t>
            </a:r>
            <a:r>
              <a:rPr lang="en-US" dirty="0"/>
              <a:t> </a:t>
            </a:r>
            <a:r>
              <a:rPr lang="en-US" dirty="0" err="1"/>
              <a:t>WebClient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E8B724-F454-37FF-79E4-BA6CCD7BC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460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</p:spPr>
        <p:txBody>
          <a:bodyPr/>
          <a:lstStyle/>
          <a:p>
            <a:r>
              <a:rPr lang="en-US" dirty="0" err="1"/>
              <a:t>Configurare</a:t>
            </a:r>
            <a:r>
              <a:rPr lang="en-US" dirty="0"/>
              <a:t> </a:t>
            </a:r>
            <a:r>
              <a:rPr lang="en-US" dirty="0" err="1"/>
              <a:t>RestTemplate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Spring Boot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7CD95-A6D1-C7C3-F7D9-C0AB6438B2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1352" y="529610"/>
            <a:ext cx="6500095" cy="3687763"/>
          </a:xfrm>
        </p:spPr>
        <p:txBody>
          <a:bodyPr/>
          <a:lstStyle/>
          <a:p>
            <a:r>
              <a:rPr lang="en-US" dirty="0"/>
              <a:t>Se </a:t>
            </a:r>
            <a:r>
              <a:rPr lang="en-US" dirty="0" err="1"/>
              <a:t>expune</a:t>
            </a:r>
            <a:r>
              <a:rPr lang="en-US" dirty="0"/>
              <a:t> ca @Bean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contextul</a:t>
            </a:r>
            <a:r>
              <a:rPr lang="en-US" dirty="0"/>
              <a:t> Spring</a:t>
            </a:r>
          </a:p>
          <a:p>
            <a:r>
              <a:rPr lang="en-US" dirty="0"/>
              <a:t>De </a:t>
            </a:r>
            <a:r>
              <a:rPr lang="en-US" dirty="0" err="1"/>
              <a:t>obicei</a:t>
            </a:r>
            <a:r>
              <a:rPr lang="en-US" dirty="0"/>
              <a:t> se </a:t>
            </a:r>
            <a:r>
              <a:rPr lang="en-US" dirty="0" err="1"/>
              <a:t>folosește</a:t>
            </a:r>
            <a:r>
              <a:rPr lang="en-US" dirty="0"/>
              <a:t> </a:t>
            </a:r>
            <a:r>
              <a:rPr lang="en-US" dirty="0" err="1"/>
              <a:t>RestTemplateBuilder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configurare</a:t>
            </a:r>
            <a:endParaRPr lang="en-US" dirty="0"/>
          </a:p>
          <a:p>
            <a:r>
              <a:rPr lang="en-US" dirty="0"/>
              <a:t>Este </a:t>
            </a:r>
            <a:r>
              <a:rPr lang="en-US" dirty="0" err="1"/>
              <a:t>injectat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constructor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servicii</a:t>
            </a:r>
            <a:endParaRPr lang="en-US" dirty="0"/>
          </a:p>
          <a:p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personalizat</a:t>
            </a:r>
            <a:r>
              <a:rPr lang="en-US" dirty="0"/>
              <a:t> cu timeout-</a:t>
            </a:r>
            <a:r>
              <a:rPr lang="en-US" dirty="0" err="1"/>
              <a:t>uri</a:t>
            </a:r>
            <a:r>
              <a:rPr lang="en-US" dirty="0"/>
              <a:t>, </a:t>
            </a:r>
            <a:r>
              <a:rPr lang="en-US" dirty="0" err="1"/>
              <a:t>interceptori</a:t>
            </a:r>
            <a:r>
              <a:rPr lang="en-US" dirty="0"/>
              <a:t>, message converters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2207A1-A505-3185-A282-927E9F6F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BA2332B-75D3-EBDC-C7B0-51BCA6B22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292" y="3876328"/>
            <a:ext cx="7903415" cy="141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0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/>
          <a:lstStyle/>
          <a:p>
            <a:r>
              <a:rPr lang="it-IT" dirty="0"/>
              <a:t>Operațiuni de bază cu RestTemplate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20DBB-F3DD-CE0A-DCE1-63F191C0CC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160" y="1474308"/>
            <a:ext cx="10210800" cy="1954692"/>
          </a:xfrm>
        </p:spPr>
        <p:txBody>
          <a:bodyPr/>
          <a:lstStyle/>
          <a:p>
            <a:r>
              <a:rPr lang="en-US" dirty="0"/>
              <a:t>Metode </a:t>
            </a:r>
            <a:r>
              <a:rPr lang="en-US" dirty="0" err="1"/>
              <a:t>uzuale</a:t>
            </a:r>
            <a:r>
              <a:rPr lang="en-US" dirty="0"/>
              <a:t>: </a:t>
            </a:r>
            <a:r>
              <a:rPr lang="en-US" dirty="0" err="1"/>
              <a:t>getForObject</a:t>
            </a:r>
            <a:r>
              <a:rPr lang="en-US" dirty="0"/>
              <a:t>, </a:t>
            </a:r>
            <a:r>
              <a:rPr lang="en-US" dirty="0" err="1"/>
              <a:t>getForEntity</a:t>
            </a:r>
            <a:r>
              <a:rPr lang="en-US" dirty="0"/>
              <a:t>, </a:t>
            </a:r>
            <a:r>
              <a:rPr lang="en-US" dirty="0" err="1"/>
              <a:t>postForObject</a:t>
            </a:r>
            <a:r>
              <a:rPr lang="en-US" dirty="0"/>
              <a:t>, exchange</a:t>
            </a:r>
          </a:p>
          <a:p>
            <a:r>
              <a:rPr lang="en-US" dirty="0" err="1"/>
              <a:t>getForObject</a:t>
            </a:r>
            <a:r>
              <a:rPr lang="en-US" dirty="0"/>
              <a:t> – </a:t>
            </a:r>
            <a:r>
              <a:rPr lang="en-US" dirty="0" err="1"/>
              <a:t>ia</a:t>
            </a:r>
            <a:r>
              <a:rPr lang="en-US" dirty="0"/>
              <a:t> direct body-ul </a:t>
            </a:r>
            <a:r>
              <a:rPr lang="en-US" dirty="0" err="1"/>
              <a:t>mapat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clasă</a:t>
            </a:r>
            <a:r>
              <a:rPr lang="en-US" dirty="0"/>
              <a:t> Java</a:t>
            </a:r>
          </a:p>
          <a:p>
            <a:r>
              <a:rPr lang="en-US" dirty="0" err="1"/>
              <a:t>getForEntity</a:t>
            </a:r>
            <a:r>
              <a:rPr lang="en-US" dirty="0"/>
              <a:t> –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status code + headers</a:t>
            </a:r>
          </a:p>
          <a:p>
            <a:r>
              <a:rPr lang="en-US" dirty="0"/>
              <a:t>exchange – cel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flexibil</a:t>
            </a:r>
            <a:r>
              <a:rPr lang="en-US" dirty="0"/>
              <a:t>: </a:t>
            </a:r>
            <a:r>
              <a:rPr lang="en-US" dirty="0" err="1"/>
              <a:t>metodă</a:t>
            </a:r>
            <a:r>
              <a:rPr lang="en-US" dirty="0"/>
              <a:t> HTTP, headers, body, tip </a:t>
            </a:r>
            <a:r>
              <a:rPr lang="en-US" dirty="0" err="1"/>
              <a:t>răspuns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3B6B3C-8871-AE4A-CB61-74006B35D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" y="3909875"/>
            <a:ext cx="5845769" cy="166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ZA" dirty="0" err="1"/>
              <a:t>Maparea</a:t>
            </a:r>
            <a:r>
              <a:rPr lang="en-ZA" dirty="0"/>
              <a:t> JSON ↔ </a:t>
            </a:r>
            <a:r>
              <a:rPr lang="en-ZA" dirty="0" err="1"/>
              <a:t>obiecte</a:t>
            </a:r>
            <a:r>
              <a:rPr lang="en-ZA" dirty="0"/>
              <a:t> Java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4887594" cy="3687763"/>
          </a:xfrm>
        </p:spPr>
        <p:txBody>
          <a:bodyPr/>
          <a:lstStyle/>
          <a:p>
            <a:r>
              <a:rPr lang="en-US" dirty="0" err="1"/>
              <a:t>RestTemplate</a:t>
            </a:r>
            <a:r>
              <a:rPr lang="en-US" dirty="0"/>
              <a:t> </a:t>
            </a:r>
            <a:r>
              <a:rPr lang="en-US" dirty="0" err="1"/>
              <a:t>folosește</a:t>
            </a:r>
            <a:r>
              <a:rPr lang="en-US" dirty="0"/>
              <a:t> message converters (ex. Jackson) </a:t>
            </a:r>
            <a:r>
              <a:rPr lang="en-US" dirty="0" err="1"/>
              <a:t>pentru</a:t>
            </a:r>
            <a:r>
              <a:rPr lang="en-US" dirty="0"/>
              <a:t> JSON</a:t>
            </a:r>
          </a:p>
          <a:p>
            <a:r>
              <a:rPr lang="en-US" dirty="0" err="1"/>
              <a:t>Răspunsul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mapat</a:t>
            </a:r>
            <a:r>
              <a:rPr lang="en-US" dirty="0"/>
              <a:t> direct </a:t>
            </a:r>
            <a:r>
              <a:rPr lang="en-US" dirty="0" err="1"/>
              <a:t>în</a:t>
            </a:r>
            <a:r>
              <a:rPr lang="en-US" dirty="0"/>
              <a:t> DTO-</a:t>
            </a:r>
            <a:r>
              <a:rPr lang="en-US" dirty="0" err="1"/>
              <a:t>uri</a:t>
            </a:r>
            <a:r>
              <a:rPr lang="en-US" dirty="0"/>
              <a:t> (</a:t>
            </a:r>
            <a:r>
              <a:rPr lang="en-US" dirty="0" err="1"/>
              <a:t>clase</a:t>
            </a:r>
            <a:r>
              <a:rPr lang="en-US" dirty="0"/>
              <a:t> Java simple)</a:t>
            </a:r>
          </a:p>
          <a:p>
            <a:r>
              <a:rPr lang="en-US" dirty="0"/>
              <a:t>DTO-urile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aibă</a:t>
            </a:r>
            <a:r>
              <a:rPr lang="en-US" dirty="0"/>
              <a:t> </a:t>
            </a:r>
            <a:r>
              <a:rPr lang="en-US" dirty="0" err="1"/>
              <a:t>câmpuri</a:t>
            </a:r>
            <a:r>
              <a:rPr lang="en-US" dirty="0"/>
              <a:t> </a:t>
            </a:r>
            <a:r>
              <a:rPr lang="en-US" dirty="0" err="1"/>
              <a:t>compatibile</a:t>
            </a:r>
            <a:r>
              <a:rPr lang="en-US" dirty="0"/>
              <a:t> cu JSON-ul</a:t>
            </a:r>
          </a:p>
          <a:p>
            <a:r>
              <a:rPr lang="en-US" dirty="0" err="1"/>
              <a:t>Același</a:t>
            </a:r>
            <a:r>
              <a:rPr lang="en-US" dirty="0"/>
              <a:t> </a:t>
            </a:r>
            <a:r>
              <a:rPr lang="en-US" dirty="0" err="1"/>
              <a:t>mecanism</a:t>
            </a:r>
            <a:r>
              <a:rPr lang="en-US" dirty="0"/>
              <a:t> se </a:t>
            </a:r>
            <a:r>
              <a:rPr lang="en-US" dirty="0" err="1"/>
              <a:t>aplică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la request body (ex. </a:t>
            </a:r>
            <a:r>
              <a:rPr lang="en-US" dirty="0" err="1"/>
              <a:t>pentru</a:t>
            </a:r>
            <a:r>
              <a:rPr lang="en-US" dirty="0"/>
              <a:t> POST)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692BC0-17EF-5DA0-F257-48639ACD6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841" y="2279208"/>
            <a:ext cx="6184669" cy="229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B573E-D6D3-B0CD-C07C-459CD26A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/>
          <a:lstStyle/>
          <a:p>
            <a:r>
              <a:rPr lang="en-US" dirty="0"/>
              <a:t>Error handling &amp; </a:t>
            </a:r>
            <a:r>
              <a:rPr lang="en-US" dirty="0" err="1"/>
              <a:t>bune</a:t>
            </a:r>
            <a:r>
              <a:rPr lang="en-US" dirty="0"/>
              <a:t> </a:t>
            </a:r>
            <a:r>
              <a:rPr lang="en-US" dirty="0" err="1"/>
              <a:t>practici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FD557-D53B-0844-8823-CB23872487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160" y="2026920"/>
            <a:ext cx="5944092" cy="3901758"/>
          </a:xfrm>
        </p:spPr>
        <p:txBody>
          <a:bodyPr>
            <a:normAutofit/>
          </a:bodyPr>
          <a:lstStyle/>
          <a:p>
            <a:r>
              <a:rPr lang="en-US" dirty="0"/>
              <a:t>La </a:t>
            </a:r>
            <a:r>
              <a:rPr lang="en-US" dirty="0" err="1"/>
              <a:t>erori</a:t>
            </a:r>
            <a:r>
              <a:rPr lang="en-US" dirty="0"/>
              <a:t> HTTP, </a:t>
            </a:r>
            <a:r>
              <a:rPr lang="en-US" dirty="0" err="1"/>
              <a:t>RestTemplate</a:t>
            </a:r>
            <a:r>
              <a:rPr lang="en-US" dirty="0"/>
              <a:t> </a:t>
            </a:r>
            <a:r>
              <a:rPr lang="en-US" dirty="0" err="1"/>
              <a:t>aruncă</a:t>
            </a:r>
            <a:r>
              <a:rPr lang="en-US" dirty="0"/>
              <a:t> </a:t>
            </a:r>
            <a:r>
              <a:rPr lang="en-US" dirty="0" err="1"/>
              <a:t>RestClientException</a:t>
            </a:r>
            <a:endParaRPr lang="en-US" dirty="0"/>
          </a:p>
          <a:p>
            <a:r>
              <a:rPr lang="en-US" dirty="0" err="1"/>
              <a:t>Tipuri</a:t>
            </a:r>
            <a:r>
              <a:rPr lang="en-US" dirty="0"/>
              <a:t> </a:t>
            </a:r>
            <a:r>
              <a:rPr lang="en-US" dirty="0" err="1"/>
              <a:t>frecvente</a:t>
            </a:r>
            <a:r>
              <a:rPr lang="en-US" dirty="0"/>
              <a:t>: </a:t>
            </a:r>
            <a:r>
              <a:rPr lang="en-US" dirty="0" err="1"/>
              <a:t>HttpClientErrorException</a:t>
            </a:r>
            <a:r>
              <a:rPr lang="en-US" dirty="0"/>
              <a:t>, </a:t>
            </a:r>
            <a:r>
              <a:rPr lang="en-US" dirty="0" err="1"/>
              <a:t>HttpServerErrorException</a:t>
            </a:r>
            <a:endParaRPr lang="en-US" dirty="0"/>
          </a:p>
          <a:p>
            <a:r>
              <a:rPr lang="en-US" dirty="0" err="1"/>
              <a:t>Poți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un </a:t>
            </a:r>
            <a:r>
              <a:rPr lang="en-US" dirty="0" err="1"/>
              <a:t>ResponseErrorHandler</a:t>
            </a:r>
            <a:r>
              <a:rPr lang="en-US" dirty="0"/>
              <a:t> custom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tratare</a:t>
            </a:r>
            <a:r>
              <a:rPr lang="en-US" dirty="0"/>
              <a:t> </a:t>
            </a:r>
            <a:r>
              <a:rPr lang="en-US" dirty="0" err="1"/>
              <a:t>centralizată</a:t>
            </a:r>
            <a:endParaRPr lang="en-US" dirty="0"/>
          </a:p>
          <a:p>
            <a:r>
              <a:rPr lang="en-US" dirty="0" err="1"/>
              <a:t>Configurează</a:t>
            </a:r>
            <a:r>
              <a:rPr lang="en-US" dirty="0"/>
              <a:t> timeout-</a:t>
            </a:r>
            <a:r>
              <a:rPr lang="en-US" dirty="0" err="1"/>
              <a:t>uri</a:t>
            </a:r>
            <a:r>
              <a:rPr lang="en-US" dirty="0"/>
              <a:t> (connect / read)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evita</a:t>
            </a:r>
            <a:r>
              <a:rPr lang="en-US" dirty="0"/>
              <a:t> </a:t>
            </a:r>
            <a:r>
              <a:rPr lang="en-US" dirty="0" err="1"/>
              <a:t>blocările</a:t>
            </a:r>
            <a:endParaRPr lang="en-US" dirty="0"/>
          </a:p>
          <a:p>
            <a:r>
              <a:rPr lang="en-US" dirty="0" err="1"/>
              <a:t>Folosește</a:t>
            </a:r>
            <a:r>
              <a:rPr lang="en-US" dirty="0"/>
              <a:t> un </a:t>
            </a:r>
            <a:r>
              <a:rPr lang="en-US" dirty="0" err="1"/>
              <a:t>singur</a:t>
            </a:r>
            <a:r>
              <a:rPr lang="en-US" dirty="0"/>
              <a:t> </a:t>
            </a:r>
            <a:r>
              <a:rPr lang="en-US" dirty="0" err="1"/>
              <a:t>RestTemplate</a:t>
            </a:r>
            <a:r>
              <a:rPr lang="en-US" dirty="0"/>
              <a:t> ca bean, nu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instanțe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 la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apel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42E34-541A-0DF0-0999-C86F3925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264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 err="1"/>
              <a:t>RestTemplate</a:t>
            </a:r>
            <a:r>
              <a:rPr lang="en-US" dirty="0"/>
              <a:t> vs </a:t>
            </a:r>
            <a:r>
              <a:rPr lang="en-US" dirty="0" err="1"/>
              <a:t>WebClient</a:t>
            </a:r>
            <a:r>
              <a:rPr lang="en-US" dirty="0"/>
              <a:t> &amp; </a:t>
            </a:r>
            <a:r>
              <a:rPr lang="en-US" dirty="0" err="1"/>
              <a:t>concluzii</a:t>
            </a:r>
            <a:endParaRPr lang="en-Z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26E51D-0E5E-98CC-19AE-F6AC7B00BF2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/>
          <a:p>
            <a:r>
              <a:rPr lang="en-US" dirty="0" err="1"/>
              <a:t>RestTemplate</a:t>
            </a:r>
            <a:r>
              <a:rPr lang="en-US" dirty="0"/>
              <a:t>: client HTTP </a:t>
            </a:r>
            <a:r>
              <a:rPr lang="en-US" dirty="0" err="1"/>
              <a:t>sincron</a:t>
            </a:r>
            <a:r>
              <a:rPr lang="en-US" dirty="0"/>
              <a:t>, </a:t>
            </a:r>
            <a:r>
              <a:rPr lang="en-US" dirty="0" err="1"/>
              <a:t>simplu</a:t>
            </a:r>
            <a:r>
              <a:rPr lang="en-US" dirty="0"/>
              <a:t>, </a:t>
            </a:r>
            <a:r>
              <a:rPr lang="en-US" dirty="0" err="1"/>
              <a:t>clasic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Spring</a:t>
            </a:r>
          </a:p>
          <a:p>
            <a:r>
              <a:rPr lang="en-US" dirty="0" err="1"/>
              <a:t>WebClient</a:t>
            </a:r>
            <a:r>
              <a:rPr lang="en-US" dirty="0"/>
              <a:t>: client HTTP non-</a:t>
            </a:r>
            <a:r>
              <a:rPr lang="en-US" dirty="0" err="1"/>
              <a:t>blocant</a:t>
            </a:r>
            <a:r>
              <a:rPr lang="en-US" dirty="0"/>
              <a:t>, </a:t>
            </a:r>
            <a:r>
              <a:rPr lang="en-US" dirty="0" err="1"/>
              <a:t>reactiv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load mare</a:t>
            </a:r>
          </a:p>
          <a:p>
            <a:r>
              <a:rPr lang="en-US" dirty="0" err="1"/>
              <a:t>RestTemplate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maintenance mode; </a:t>
            </a:r>
            <a:r>
              <a:rPr lang="en-US" dirty="0" err="1"/>
              <a:t>pentru</a:t>
            </a:r>
            <a:r>
              <a:rPr lang="en-US" dirty="0"/>
              <a:t> cod nou se </a:t>
            </a:r>
            <a:r>
              <a:rPr lang="en-US" dirty="0" err="1"/>
              <a:t>recomandă</a:t>
            </a:r>
            <a:r>
              <a:rPr lang="en-US" dirty="0"/>
              <a:t> </a:t>
            </a:r>
            <a:r>
              <a:rPr lang="en-US" dirty="0" err="1"/>
              <a:t>WebClient</a:t>
            </a:r>
            <a:endParaRPr lang="en-US" dirty="0"/>
          </a:p>
          <a:p>
            <a:r>
              <a:rPr lang="en-US" dirty="0" err="1"/>
              <a:t>RestTemplate</a:t>
            </a:r>
            <a:r>
              <a:rPr lang="en-US" dirty="0"/>
              <a:t> </a:t>
            </a:r>
            <a:r>
              <a:rPr lang="en-US" dirty="0" err="1"/>
              <a:t>rămâne</a:t>
            </a:r>
            <a:r>
              <a:rPr lang="en-US" dirty="0"/>
              <a:t> valid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aplicații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 Spring MVC / </a:t>
            </a:r>
            <a:r>
              <a:rPr lang="en-US" dirty="0" err="1"/>
              <a:t>monolit</a:t>
            </a:r>
            <a:endParaRPr lang="en-US" dirty="0"/>
          </a:p>
          <a:p>
            <a:r>
              <a:rPr lang="en-US" dirty="0" err="1"/>
              <a:t>Alegere</a:t>
            </a:r>
            <a:r>
              <a:rPr lang="en-US" dirty="0"/>
              <a:t>: </a:t>
            </a:r>
            <a:r>
              <a:rPr lang="en-US" dirty="0" err="1"/>
              <a:t>simplitate</a:t>
            </a:r>
            <a:r>
              <a:rPr lang="en-US" dirty="0"/>
              <a:t> vs. </a:t>
            </a:r>
            <a:r>
              <a:rPr lang="en-US" dirty="0" err="1"/>
              <a:t>scalabilitate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model </a:t>
            </a:r>
            <a:r>
              <a:rPr lang="en-US" dirty="0" err="1"/>
              <a:t>reactiv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{98A7E669-776D-4187-A03E-D5B552F9EF7B}TFb05bf529-a1dc-42d5-b9d6-8a1e9569dd9caf6e7d0f_win32-c3c9796a48f5</Template>
  <TotalTime>44</TotalTime>
  <Words>391</Words>
  <Application>Microsoft Office PowerPoint</Application>
  <PresentationFormat>Widescreen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Avenir Next LT Pro Light</vt:lpstr>
      <vt:lpstr>Calibri</vt:lpstr>
      <vt:lpstr>Posterama</vt:lpstr>
      <vt:lpstr>Custom</vt:lpstr>
      <vt:lpstr>RestTemplate</vt:lpstr>
      <vt:lpstr>Agenda </vt:lpstr>
      <vt:lpstr>Context: API-uri REST și clienți HTTP</vt:lpstr>
      <vt:lpstr>PowerPoint Presentation</vt:lpstr>
      <vt:lpstr>Ce este RestTemplate?</vt:lpstr>
      <vt:lpstr>PowerPoint Presentation</vt:lpstr>
      <vt:lpstr>Configurare RestTemplate în Spring Boot</vt:lpstr>
      <vt:lpstr>PowerPoint Presentation</vt:lpstr>
      <vt:lpstr>Operațiuni de bază cu RestTemplate</vt:lpstr>
      <vt:lpstr>Maparea JSON ↔ obiecte Java</vt:lpstr>
      <vt:lpstr>Error handling &amp; bune practici</vt:lpstr>
      <vt:lpstr>RestTemplate vs WebClient &amp; concluzii</vt:lpstr>
      <vt:lpstr>Thank you </vt:lpstr>
    </vt:vector>
  </TitlesOfParts>
  <Company>Endava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Georgel Denis Mihalache</dc:creator>
  <cp:lastModifiedBy>Georgel Denis Mihalache</cp:lastModifiedBy>
  <cp:revision>1</cp:revision>
  <dcterms:created xsi:type="dcterms:W3CDTF">2025-12-11T16:10:57Z</dcterms:created>
  <dcterms:modified xsi:type="dcterms:W3CDTF">2025-12-12T07:56:32Z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